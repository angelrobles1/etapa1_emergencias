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Fase 1 - Agente inteligente y formulacion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Sistema inteligente para apoyo a la planificacion de rutas de emergencia en Bogota</a:t>
            </a:r>
          </a:p>
          <a:p>
            <a:pPr algn="ctr">
              <a:defRPr sz="1800"/>
            </a:pPr>
            <a:r>
              <a:t>Curso: Inteligencia Artificial - SIST5036 | Corte 1</a:t>
            </a:r>
          </a:p>
          <a:p>
            <a:pPr algn="ctr">
              <a:defRPr sz="1500"/>
            </a:pPr>
            <a:r>
              <a:t>Integrantes: Santiago Parra Acuña | Sergio Alberto Morales Pirajan | Angel Robles Araque</a:t>
            </a:r>
          </a:p>
          <a:p>
            <a:pPr algn="ctr">
              <a:defRPr sz="1500"/>
            </a:pPr>
            <a:r>
              <a:t>Sin TransMilenio: red vial, centros de urgencias y datos oficiales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Problema y pregunta orientadora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En una emergencia no basta con elegir el hospital mas cercano.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El agente debe balancear distancia, tiempo, semaforos, demanda historica y adecuacion del centro.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Pregunta: ¿como seleccionar centro de urgencias y ruta usando grafos y datasets oficiales actualizados?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0" y="1280160"/>
            <a:ext cx="4663440" cy="1097280"/>
          </a:xfrm>
          <a:prstGeom prst="rect">
            <a:avLst/>
          </a:prstGeom>
          <a:solidFill>
            <a:srgbClr val="E8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Decision 1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¿A que centro de urgencias conviene dirigirse?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2651760"/>
            <a:ext cx="4663440" cy="1097280"/>
          </a:xfrm>
          <a:prstGeom prst="rect">
            <a:avLst/>
          </a:prstGeom>
          <a:solidFill>
            <a:srgbClr val="E8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Decision 2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¿Que ruta disponible tiene menor costo combinado?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4023360"/>
            <a:ext cx="4663440" cy="1097280"/>
          </a:xfrm>
          <a:prstGeom prst="rect">
            <a:avLst/>
          </a:prstGeom>
          <a:solidFill>
            <a:srgbClr val="E8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Resultado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Recomendacion inicial del agente y evidencia de prueba.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Fuentes oficiales verificadas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050"/>
                </a:solidFill>
              </a:defRPr>
            </a:pPr>
            <a:r>
              <a:t>Todas permiten defender la entrega con datos encontrables y actualizados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188720"/>
            <a:ext cx="10607040" cy="822960"/>
          </a:xfrm>
          <a:prstGeom prst="rect">
            <a:avLst/>
          </a:prstGeom>
          <a:solidFill>
            <a:srgbClr val="E8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Servicios de Urgencias y Ambulancias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Entidad: SDS | Actualizacion: 23 jul.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331720"/>
            <a:ext cx="10607040" cy="822960"/>
          </a:xfrm>
          <a:prstGeom prst="rect">
            <a:avLst/>
          </a:prstGeom>
          <a:solidFill>
            <a:srgbClr val="E8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Linea 123 Salud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Entidad: SDS | Actualizacion: 4 sep.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474720"/>
            <a:ext cx="10607040" cy="822960"/>
          </a:xfrm>
          <a:prstGeom prst="rect">
            <a:avLst/>
          </a:prstGeom>
          <a:solidFill>
            <a:srgbClr val="E8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Red Semaforica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Entidad: SDM | Actualizacion: 12 jun. 2026 / metadato 2 sep.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617720"/>
            <a:ext cx="10607040" cy="822960"/>
          </a:xfrm>
          <a:prstGeom prst="rect">
            <a:avLst/>
          </a:prstGeom>
          <a:solidFill>
            <a:srgbClr val="E8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Malla Vial Integral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Entidad: IDECA / Movilidad | Actualizacion: fuente oficial vigente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Modelo PEAS del agente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5303520" cy="1143000"/>
          </a:xfrm>
          <a:prstGeom prst="rect">
            <a:avLst/>
          </a:prstGeom>
          <a:solidFill>
            <a:srgbClr val="E8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Performance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Minimizar costo combinado y favorecer centros adecuados para urgencias.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63640" y="1143000"/>
            <a:ext cx="5303520" cy="1143000"/>
          </a:xfrm>
          <a:prstGeom prst="rect">
            <a:avLst/>
          </a:prstGeom>
          <a:solidFill>
            <a:srgbClr val="E8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Environment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Grafo con emergencia, intersecciones, hospitales y vias disponibles/bloqueadas.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880360"/>
            <a:ext cx="5303520" cy="1143000"/>
          </a:xfrm>
          <a:prstGeom prst="rect">
            <a:avLst/>
          </a:prstGeom>
          <a:solidFill>
            <a:srgbClr val="E8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Actuators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Seleccionar centro recomendado y avanzar por la ruta calculada.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2880360"/>
            <a:ext cx="5303520" cy="1143000"/>
          </a:xfrm>
          <a:prstGeom prst="rect">
            <a:avLst/>
          </a:prstGeom>
          <a:solidFill>
            <a:srgbClr val="E8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Sensors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Percibir nodo actual, vecinos, distancia, tiempo, semaforos, demanda y servicio.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t>Tipo de agente: basado en utilidad, porque pondera criterios en conflicto.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Modelo del entorno: grafo G = (V, E)</a:t>
            </a:r>
          </a:p>
        </p:txBody>
      </p:sp>
      <p:pic>
        <p:nvPicPr>
          <p:cNvPr id="3" name="Picture 2" descr="grafo_red_emergenc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6583680" cy="41896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43800" y="1417320"/>
            <a:ext cx="3840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Nodos: emergencia, intersecciones y hospitales.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Aristas: tramos viales con distancia, tiempo, semaforos y disponibilidad.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Dataset inicial: 13 nodos y 16 conexiones.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Funcion de utilidad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costo = 0.35*distancia + 0.30*(tiempo/10) + 0.15*(semaforos/5) + 0.10*demanda - 0.25*adecuacion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331720"/>
            <a:ext cx="2103120" cy="1143000"/>
          </a:xfrm>
          <a:prstGeom prst="rect">
            <a:avLst/>
          </a:prstGeom>
          <a:solidFill>
            <a:srgbClr val="E8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Distancia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Eficiencia fisica del recorrido.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2331720"/>
            <a:ext cx="2103120" cy="1143000"/>
          </a:xfrm>
          <a:prstGeom prst="rect">
            <a:avLst/>
          </a:prstGeom>
          <a:solidFill>
            <a:srgbClr val="E8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Tiempo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Aproxima urgencia del traslado.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2331720"/>
            <a:ext cx="2103120" cy="1143000"/>
          </a:xfrm>
          <a:prstGeom prst="rect">
            <a:avLst/>
          </a:prstGeom>
          <a:solidFill>
            <a:srgbClr val="E8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Semaforos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Penaliza posibles detenciones.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2331720"/>
            <a:ext cx="2103120" cy="1143000"/>
          </a:xfrm>
          <a:prstGeom prst="rect">
            <a:avLst/>
          </a:prstGeom>
          <a:solidFill>
            <a:srgbClr val="E8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Demanda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Presion historica por localidad.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0" y="2331720"/>
            <a:ext cx="1645920" cy="1143000"/>
          </a:xfrm>
          <a:prstGeom prst="rect">
            <a:avLst/>
          </a:prstGeom>
          <a:solidFill>
            <a:srgbClr val="E8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Servicio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Bonifica adecuacion.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E1E1E"/>
                </a:solidFill>
              </a:defRPr>
            </a:pPr>
            <a:r>
              <a:t>En Fase 1 se usa Dijkstra ponderado como prototipo inicial.</a:t>
            </a:r>
          </a:p>
          <a:p>
            <a:pPr>
              <a:defRPr sz="1900">
                <a:solidFill>
                  <a:srgbClr val="1E1E1E"/>
                </a:solidFill>
              </a:defRPr>
            </a:pPr>
            <a:r>
              <a:t>En Fase 2 se comparara formalmente con BFS, DFS, UCS, Greedy y A*.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Prueba 1: ruta normal</a:t>
            </a:r>
          </a:p>
        </p:txBody>
      </p:sp>
      <p:pic>
        <p:nvPicPr>
          <p:cNvPr id="3" name="Picture 2" descr="ruta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6400800" cy="40732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463040"/>
            <a:ext cx="4114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E1E1E"/>
                </a:solidFill>
              </a:defRPr>
            </a:pPr>
            <a:r>
              <a:t>Origen: emergencia simulada en Kennedy.</a:t>
            </a:r>
          </a:p>
          <a:p>
            <a:pPr>
              <a:defRPr sz="1900">
                <a:solidFill>
                  <a:srgbClr val="1E1E1E"/>
                </a:solidFill>
              </a:defRPr>
            </a:pPr>
            <a:r>
              <a:t>Resultado: Hospital Occidente de Kennedy.</a:t>
            </a:r>
          </a:p>
          <a:p>
            <a:pPr>
              <a:defRPr sz="1900">
                <a:solidFill>
                  <a:srgbClr val="1E1E1E"/>
                </a:solidFill>
              </a:defRPr>
            </a:pPr>
            <a:r>
              <a:t>El agente no escoge solo por cercania; pondera adecuacion del servicio.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Prueba 2 y 3: comparacion y bloqueo</a:t>
            </a:r>
          </a:p>
        </p:txBody>
      </p:sp>
      <p:pic>
        <p:nvPicPr>
          <p:cNvPr id="3" name="Picture 2" descr="ruta_bloqu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603504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41732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Prueba 2: el punto mas cercano es basico, pero la utilidad favorece el hospital integral.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Prueba 3: al bloquear accesos cercanos, el agente recalcula una ruta valida hacia Hospital Santa Clara.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Esto evidencia percepcion del entorno y adaptacion dinamica.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Arquitectura del prototipo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965960"/>
            <a:ext cx="1965960" cy="1280160"/>
          </a:xfrm>
          <a:prstGeom prst="rect">
            <a:avLst/>
          </a:prstGeom>
          <a:solidFill>
            <a:srgbClr val="E8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data/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CSV iniciales normalizados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54680" y="1965960"/>
            <a:ext cx="1965960" cy="1280160"/>
          </a:xfrm>
          <a:prstGeom prst="rect">
            <a:avLst/>
          </a:prstGeom>
          <a:solidFill>
            <a:srgbClr val="E8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grafo.py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Carga datos y construye NetworkX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1965960"/>
            <a:ext cx="1965960" cy="1280160"/>
          </a:xfrm>
          <a:prstGeom prst="rect">
            <a:avLst/>
          </a:prstGeom>
          <a:solidFill>
            <a:srgbClr val="E8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agente.py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Evalua rutas y selecciona utilidad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965960"/>
            <a:ext cx="1965960" cy="1280160"/>
          </a:xfrm>
          <a:prstGeom prst="rect">
            <a:avLst/>
          </a:prstGeom>
          <a:solidFill>
            <a:srgbClr val="E8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pruebas.py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Genera evidencia de resultados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1965960"/>
            <a:ext cx="1965960" cy="1280160"/>
          </a:xfrm>
          <a:prstGeom prst="rect">
            <a:avLst/>
          </a:prstGeom>
          <a:solidFill>
            <a:srgbClr val="E8F2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figures/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Exporta grafos por Matplotlib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Conclusiones y siguiente fase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1E1E1E"/>
                </a:solidFill>
              </a:defRPr>
            </a:pPr>
            <a:r>
              <a:t>La Fase 1 queda formulada con problema, PEAS, grafo, dataset inicial, codigo, agente y pruebas.</a:t>
            </a:r>
          </a:p>
          <a:p>
            <a:pPr>
              <a:defRPr sz="2100">
                <a:solidFill>
                  <a:srgbClr val="1E1E1E"/>
                </a:solidFill>
              </a:defRPr>
            </a:pPr>
            <a:r>
              <a:t>No depende de TransMilenio ni de datos inventados como requisito principal.</a:t>
            </a:r>
          </a:p>
          <a:p>
            <a:pPr>
              <a:defRPr sz="2100">
                <a:solidFill>
                  <a:srgbClr val="1E1E1E"/>
                </a:solidFill>
              </a:defRPr>
            </a:pPr>
            <a:r>
              <a:t>Fase 2: implementar BFS, DFS, UCS, busqueda voraz y A* sobre el mismo grafo.</a:t>
            </a:r>
          </a:p>
          <a:p>
            <a:pPr>
              <a:defRPr sz="2100">
                <a:solidFill>
                  <a:srgbClr val="1E1E1E"/>
                </a:solidFill>
              </a:defRPr>
            </a:pPr>
            <a:r>
              <a:t>Fase 3: usar Linea 123 y servicios de salud para clasificacion, regresion o agrupamiento.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